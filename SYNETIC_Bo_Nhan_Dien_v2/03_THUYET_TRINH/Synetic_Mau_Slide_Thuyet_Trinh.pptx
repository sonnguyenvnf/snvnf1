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Doanh thu</c:v>
                </c:pt>
              </c:strCache>
            </c:strRef>
          </c:tx>
          <c:spPr>
            <a:solidFill>
              <a:srgbClr val="1FA38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B2B2B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A38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FA38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F5FA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F5FA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C9A24B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2022</c:v>
                  </c:pt>
                  <c:pt idx="1">
                    <c:v>2023</c:v>
                  </c:pt>
                  <c:pt idx="2">
                    <c:v>2024</c:v>
                  </c:pt>
                  <c:pt idx="3">
                    <c:v>2025</c:v>
                  </c:pt>
                  <c:pt idx="4">
                    <c:v>2026F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180</c:v>
                </c:pt>
                <c:pt idx="1">
                  <c:v>280</c:v>
                </c:pt>
                <c:pt idx="2">
                  <c:v>450</c:v>
                </c:pt>
                <c:pt idx="3">
                  <c:v>680</c:v>
                </c:pt>
                <c:pt idx="4">
                  <c:v>950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2B2B2B"/>
                  </a:solidFill>
                  <a:latin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B2B2B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F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B2B2B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bìa. Thay tên báo cáo và thời gian khi dùng.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6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041648"/>
            <a:ext cx="9144000" cy="1106424"/>
          </a:xfrm>
          <a:prstGeom prst="rect">
            <a:avLst/>
          </a:prstGeom>
          <a:solidFill>
            <a:srgbClr val="0B4F3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29200"/>
            <a:ext cx="9144000" cy="118872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051560"/>
            <a:ext cx="1920240" cy="196596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457200"/>
            <a:ext cx="566928" cy="57607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88720" y="5029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3000" dirty="0"/>
          </a:p>
        </p:txBody>
      </p:sp>
      <p:sp>
        <p:nvSpPr>
          <p:cNvPr id="7" name="Text 3"/>
          <p:cNvSpPr/>
          <p:nvPr/>
        </p:nvSpPr>
        <p:spPr>
          <a:xfrm>
            <a:off x="548640" y="169164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KIẾN TẠO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548640" y="2286000"/>
            <a:ext cx="5852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GIÁ TRỊ VƯỢT TRỘI</a:t>
            </a:r>
            <a:endParaRPr lang="en-US" sz="4200" dirty="0"/>
          </a:p>
        </p:txBody>
      </p:sp>
      <p:sp>
        <p:nvSpPr>
          <p:cNvPr id="9" name="Shape 5"/>
          <p:cNvSpPr/>
          <p:nvPr/>
        </p:nvSpPr>
        <p:spPr>
          <a:xfrm>
            <a:off x="566928" y="3017520"/>
            <a:ext cx="1188720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00400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CFE3D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CÙNG NHAU PHÁT TRIỂN BỀN VỮNG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48640" y="429768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CÔNG TY CỔ PHẦN TẬP ĐOÀN SYNETIC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48640" y="45720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>
                    <a:alpha val="7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Tầng 12, Toà nhà ……………, Quận ……, Hà Nội  ·  www.synetic.vn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F6B5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502920"/>
            <a:ext cx="640080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34440" y="5669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502920" y="22860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AGENDA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548640" y="2971800"/>
            <a:ext cx="1005840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7" name="Shape 4"/>
          <p:cNvSpPr/>
          <p:nvPr/>
        </p:nvSpPr>
        <p:spPr>
          <a:xfrm>
            <a:off x="3657600" y="777240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8" name="Shape 5"/>
          <p:cNvSpPr/>
          <p:nvPr/>
        </p:nvSpPr>
        <p:spPr>
          <a:xfrm>
            <a:off x="3785616" y="905256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9" name="Text 6"/>
          <p:cNvSpPr/>
          <p:nvPr/>
        </p:nvSpPr>
        <p:spPr>
          <a:xfrm>
            <a:off x="4251960" y="77724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800600" y="77724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TỔNG QUAN CÔNG TY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3657600" y="1399032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12" name="Shape 9"/>
          <p:cNvSpPr/>
          <p:nvPr/>
        </p:nvSpPr>
        <p:spPr>
          <a:xfrm>
            <a:off x="3785616" y="1527048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13" name="Text 10"/>
          <p:cNvSpPr/>
          <p:nvPr/>
        </p:nvSpPr>
        <p:spPr>
          <a:xfrm>
            <a:off x="4251960" y="139903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800600" y="139903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TẦM NHÌN &amp; SỨ MỆNH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57600" y="2020824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16" name="Shape 13"/>
          <p:cNvSpPr/>
          <p:nvPr/>
        </p:nvSpPr>
        <p:spPr>
          <a:xfrm>
            <a:off x="3785616" y="2148840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17" name="Text 14"/>
          <p:cNvSpPr/>
          <p:nvPr/>
        </p:nvSpPr>
        <p:spPr>
          <a:xfrm>
            <a:off x="4251960" y="202082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800600" y="2020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LĨNH VỰC HOẠT ĐỘNG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3657600" y="2642616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20" name="Shape 17"/>
          <p:cNvSpPr/>
          <p:nvPr/>
        </p:nvSpPr>
        <p:spPr>
          <a:xfrm>
            <a:off x="3785616" y="2770632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21" name="Text 18"/>
          <p:cNvSpPr/>
          <p:nvPr/>
        </p:nvSpPr>
        <p:spPr>
          <a:xfrm>
            <a:off x="4251960" y="264261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800600" y="2642616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QUẢ &amp; HIỆU QUẢ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3657600" y="3264408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24" name="Shape 21"/>
          <p:cNvSpPr/>
          <p:nvPr/>
        </p:nvSpPr>
        <p:spPr>
          <a:xfrm>
            <a:off x="3785616" y="3392424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25" name="Text 22"/>
          <p:cNvSpPr/>
          <p:nvPr/>
        </p:nvSpPr>
        <p:spPr>
          <a:xfrm>
            <a:off x="4251960" y="3264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800600" y="3264408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ĐỊNH HƯỚNG PHÁT TRIỂN</a:t>
            </a:r>
            <a:endParaRPr lang="en-US" sz="1400" dirty="0"/>
          </a:p>
        </p:txBody>
      </p:sp>
      <p:sp>
        <p:nvSpPr>
          <p:cNvPr id="27" name="Shape 24"/>
          <p:cNvSpPr/>
          <p:nvPr/>
        </p:nvSpPr>
        <p:spPr>
          <a:xfrm>
            <a:off x="3657600" y="3886200"/>
            <a:ext cx="384048" cy="384048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28" name="Shape 25"/>
          <p:cNvSpPr/>
          <p:nvPr/>
        </p:nvSpPr>
        <p:spPr>
          <a:xfrm>
            <a:off x="3785616" y="4014216"/>
            <a:ext cx="128016" cy="128016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29" name="Text 26"/>
          <p:cNvSpPr/>
          <p:nvPr/>
        </p:nvSpPr>
        <p:spPr>
          <a:xfrm>
            <a:off x="4251960" y="388620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06</a:t>
            </a:r>
            <a:endParaRPr lang="en-US" sz="1500" dirty="0"/>
          </a:p>
        </p:txBody>
      </p:sp>
      <p:sp>
        <p:nvSpPr>
          <p:cNvPr id="30" name="Text 27"/>
          <p:cNvSpPr/>
          <p:nvPr/>
        </p:nvSpPr>
        <p:spPr>
          <a:xfrm>
            <a:off x="4800600" y="3886200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HỎI ĐÁP &amp; THẢO LUẬN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TỔNG QUAN CÔNG 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Hệ sinh thái kinh doanh tích hợp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1051560" cy="27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47548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Group là hệ sinh thái doanh nghiệp hoạt động trong các lĩnh vực cốt lõi: nông nghiệp, dinh dưỡng, thú y, chuỗi cung ứng và đầu tư — kiến tạo giá trị bền vững cho khách hàng, đối tác và cộng đồng.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97180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3154680"/>
            <a:ext cx="274320" cy="274320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Thành lập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02920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2020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09928" y="297180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21408" y="3154680"/>
            <a:ext cx="274320" cy="274320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12" name="Text 10"/>
          <p:cNvSpPr/>
          <p:nvPr/>
        </p:nvSpPr>
        <p:spPr>
          <a:xfrm>
            <a:off x="1709928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Trụ sở chính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709928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Hà Nội, Việt Nam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2916936" y="297180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28416" y="3154680"/>
            <a:ext cx="274320" cy="274320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16" name="Text 14"/>
          <p:cNvSpPr/>
          <p:nvPr/>
        </p:nvSpPr>
        <p:spPr>
          <a:xfrm>
            <a:off x="2916936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Nhân sự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916936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250+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23944" y="2971800"/>
            <a:ext cx="1097280" cy="11430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35424" y="3154680"/>
            <a:ext cx="274320" cy="274320"/>
          </a:xfrm>
          <a:prstGeom prst="ellipse">
            <a:avLst/>
          </a:prstGeom>
          <a:solidFill>
            <a:srgbClr val="E4EFEA"/>
          </a:solidFill>
          <a:ln/>
        </p:spPr>
      </p:sp>
      <p:sp>
        <p:nvSpPr>
          <p:cNvPr id="20" name="Text 18"/>
          <p:cNvSpPr/>
          <p:nvPr/>
        </p:nvSpPr>
        <p:spPr>
          <a:xfrm>
            <a:off x="4123944" y="3520440"/>
            <a:ext cx="1097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B2B2B">
                    <a:alpha val="6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Hiện diện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123944" y="37490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Toàn quốc</a:t>
            </a:r>
            <a:endParaRPr lang="en-US" sz="1300" dirty="0"/>
          </a:p>
        </p:txBody>
      </p:sp>
      <p:pic>
        <p:nvPicPr>
          <p:cNvPr id="2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0" y="1554480"/>
            <a:ext cx="2377440" cy="2432304"/>
          </a:xfrm>
          <a:prstGeom prst="rect">
            <a:avLst/>
          </a:prstGeom>
        </p:spPr>
      </p:pic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749808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>
                    <a:alpha val="5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TĂNG TRƯỞNG ẤN TƯỢNG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Doanh thu thuần (tỷ đồng)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1051560" cy="27432"/>
          </a:xfrm>
          <a:prstGeom prst="rect">
            <a:avLst/>
          </a:prstGeom>
          <a:solidFill>
            <a:srgbClr val="C9A24B"/>
          </a:solidFill>
          <a:ln/>
        </p:spPr>
      </p:sp>
      <p:graphicFrame>
        <p:nvGraphicFramePr>
          <p:cNvPr id="5" name="Chart 0" descr=""/>
          <p:cNvGraphicFramePr/>
          <p:nvPr/>
        </p:nvGraphicFramePr>
        <p:xfrm>
          <a:off x="502920" y="1554480"/>
          <a:ext cx="557784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446520" y="1691640"/>
            <a:ext cx="2194560" cy="26517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46520" y="19659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>
                    <a:alpha val="6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CAGR 2022–2026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446520" y="228600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52%</a:t>
            </a:r>
            <a:endParaRPr lang="en-US" sz="5200" dirty="0"/>
          </a:p>
        </p:txBody>
      </p:sp>
      <p:sp>
        <p:nvSpPr>
          <p:cNvPr id="9" name="Text 6"/>
          <p:cNvSpPr/>
          <p:nvPr/>
        </p:nvSpPr>
        <p:spPr>
          <a:xfrm>
            <a:off x="6537960" y="324612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B2B2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Tăng trưởng bền vững,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B2B2B">
                    <a:alpha val="80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hiệu quả và có kiểm soát</a:t>
            </a:r>
            <a:endParaRPr lang="en-US" sz="12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49808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>
                    <a:alpha val="5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LĨNH VỰC HOẠT ĐỘNG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Năm công ty thành viên trong một hệ sinh thái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1051560" cy="27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Shape 3"/>
          <p:cNvSpPr/>
          <p:nvPr/>
        </p:nvSpPr>
        <p:spPr>
          <a:xfrm>
            <a:off x="384048" y="16916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32688" y="1938528"/>
            <a:ext cx="457200" cy="45720"/>
          </a:xfrm>
          <a:prstGeom prst="rect">
            <a:avLst/>
          </a:prstGeom>
          <a:solidFill>
            <a:srgbClr val="0F6B50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84048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NUTRITION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12064" y="27889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Chuẩn dinh dưỡng, bền tăng trưởng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75488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ty Cổ phần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Dinh Dưỡng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93976" y="16916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642616" y="1938528"/>
            <a:ext cx="457200" cy="45720"/>
          </a:xfrm>
          <a:prstGeom prst="rect">
            <a:avLst/>
          </a:prstGeom>
          <a:solidFill>
            <a:srgbClr val="1FA38A"/>
          </a:solidFill>
          <a:ln/>
        </p:spPr>
      </p:sp>
      <p:sp>
        <p:nvSpPr>
          <p:cNvPr id="13" name="Text 11"/>
          <p:cNvSpPr/>
          <p:nvPr/>
        </p:nvSpPr>
        <p:spPr>
          <a:xfrm>
            <a:off x="2093976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93976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A38A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VET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221992" y="27889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Chủ động phòng, bền sức khoẻ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185416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ty Cổ phần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Thú 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803904" y="16916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352544" y="1938528"/>
            <a:ext cx="457200" cy="45720"/>
          </a:xfrm>
          <a:prstGeom prst="rect">
            <a:avLst/>
          </a:prstGeom>
          <a:solidFill>
            <a:srgbClr val="1F5FAF"/>
          </a:solidFill>
          <a:ln/>
        </p:spPr>
      </p:sp>
      <p:sp>
        <p:nvSpPr>
          <p:cNvPr id="19" name="Text 17"/>
          <p:cNvSpPr/>
          <p:nvPr/>
        </p:nvSpPr>
        <p:spPr>
          <a:xfrm>
            <a:off x="3803904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3904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1F5FA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LOGISTICS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1920" y="27889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Kết nối chuẩn, vận hành nhanh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895344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ty Cổ phần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Logistics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513832" y="16916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062472" y="1938528"/>
            <a:ext cx="457200" cy="45720"/>
          </a:xfrm>
          <a:prstGeom prst="rect">
            <a:avLst/>
          </a:prstGeom>
          <a:solidFill>
            <a:srgbClr val="0F6B50"/>
          </a:solidFill>
          <a:ln/>
        </p:spPr>
      </p:sp>
      <p:sp>
        <p:nvSpPr>
          <p:cNvPr id="25" name="Text 23"/>
          <p:cNvSpPr/>
          <p:nvPr/>
        </p:nvSpPr>
        <p:spPr>
          <a:xfrm>
            <a:off x="5513832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13832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FARM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641848" y="27889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Nuôi bằng tâm, lớn bằng chuẩn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05272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ty Cổ phần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Nông Trại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7223760" y="1691640"/>
            <a:ext cx="1554480" cy="265176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FE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0" y="1938528"/>
            <a:ext cx="457200" cy="45720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31" name="Text 29"/>
          <p:cNvSpPr/>
          <p:nvPr/>
        </p:nvSpPr>
        <p:spPr>
          <a:xfrm>
            <a:off x="7223760" y="212140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23760" y="2432304"/>
            <a:ext cx="1554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50" kern="0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CAPITAL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7351776" y="2788920"/>
            <a:ext cx="129844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2B2B2B">
                    <a:alpha val="7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Dẫn vốn hiệu quả, mở lối tăng trưởng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7315200" y="361188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Công ty Cổ phần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Synetic Capital</a:t>
            </a:r>
            <a:endParaRPr lang="en-US" sz="90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749808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>
                    <a:alpha val="5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6B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06240"/>
            <a:ext cx="9144000" cy="941832"/>
          </a:xfrm>
          <a:prstGeom prst="rect">
            <a:avLst/>
          </a:prstGeom>
          <a:solidFill>
            <a:srgbClr val="0B4F3C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2240" y="1371600"/>
            <a:ext cx="2103120" cy="21488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4360" y="141732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6200" dirty="0"/>
          </a:p>
        </p:txBody>
      </p:sp>
      <p:sp>
        <p:nvSpPr>
          <p:cNvPr id="5" name="Shape 2"/>
          <p:cNvSpPr/>
          <p:nvPr/>
        </p:nvSpPr>
        <p:spPr>
          <a:xfrm>
            <a:off x="640080" y="2395728"/>
            <a:ext cx="914400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6" name="Text 3"/>
          <p:cNvSpPr/>
          <p:nvPr/>
        </p:nvSpPr>
        <p:spPr>
          <a:xfrm>
            <a:off x="594360" y="2606040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LĨNH VỰC</a:t>
            </a:r>
            <a:endParaRPr lang="en-US" sz="34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HOẠT ĐỘNG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594360" y="379476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C9A24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Kiến tạo giá trị vượt trội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84048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GIẢI PHÁP TOÀN DIỆN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02920" y="950976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B2B">
                    <a:alpha val="68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Giá trị bền vững cho khách hàng và đối tác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02920" y="1316736"/>
            <a:ext cx="1051560" cy="27432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60020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Chúng tôi cung cấp các giải pháp hiệu quả, tích hợp công nghệ và con người để kiến tạo giá trị vượt trội cho khách hàng.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2606040"/>
            <a:ext cx="384048" cy="384048"/>
          </a:xfrm>
          <a:prstGeom prst="ellipse">
            <a:avLst/>
          </a:prstGeom>
          <a:solidFill>
            <a:srgbClr val="0F6B50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260604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Chuyên nghiệp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172968"/>
            <a:ext cx="384048" cy="384048"/>
          </a:xfrm>
          <a:prstGeom prst="ellipse">
            <a:avLst/>
          </a:prstGeom>
          <a:solidFill>
            <a:srgbClr val="1FA38A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317296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Hiệu quả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739896"/>
            <a:ext cx="384048" cy="384048"/>
          </a:xfrm>
          <a:prstGeom prst="ellipse">
            <a:avLst/>
          </a:prstGeom>
          <a:solidFill>
            <a:srgbClr val="1F5FAF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373989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B2B2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Đồng hành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800600" y="1600200"/>
            <a:ext cx="3840480" cy="2834640"/>
          </a:xfrm>
          <a:prstGeom prst="roundRect">
            <a:avLst>
              <a:gd name="adj" fmla="val 3871"/>
            </a:avLst>
          </a:prstGeom>
          <a:solidFill>
            <a:srgbClr val="E4EFEA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2057400"/>
            <a:ext cx="1737360" cy="178308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4800600" y="393192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2B2B2B">
                    <a:alpha val="55000"/>
                  </a:srgbClr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Khu vực đặt hình ảnh minh hoạ</a:t>
            </a:r>
            <a:endParaRPr lang="en-US" sz="1100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4645152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749808" y="46451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B2B2B">
                    <a:alpha val="55000"/>
                  </a:srgbClr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8138160" y="46451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315968"/>
            <a:ext cx="9144000" cy="832104"/>
          </a:xfrm>
          <a:prstGeom prst="rect">
            <a:avLst/>
          </a:prstGeom>
          <a:solidFill>
            <a:srgbClr val="0F6B5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224528"/>
            <a:ext cx="9144000" cy="91440"/>
          </a:xfrm>
          <a:prstGeom prst="rect">
            <a:avLst/>
          </a:prstGeom>
          <a:solidFill>
            <a:srgbClr val="C9A24B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6520" y="1005840"/>
            <a:ext cx="2103120" cy="214884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502920"/>
            <a:ext cx="548640" cy="56692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170432" y="548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Synetic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548640" y="1874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6B5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CẢM ƠN</a:t>
            </a:r>
            <a:endParaRPr lang="en-US" sz="4400" dirty="0"/>
          </a:p>
        </p:txBody>
      </p:sp>
      <p:sp>
        <p:nvSpPr>
          <p:cNvPr id="8" name="Text 4"/>
          <p:cNvSpPr/>
          <p:nvPr/>
        </p:nvSpPr>
        <p:spPr>
          <a:xfrm>
            <a:off x="548640" y="2560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B2B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QUÝ VỊ ĐÃ LẮNG NGHE!</a:t>
            </a:r>
            <a:endParaRPr lang="en-US" sz="2200" dirty="0"/>
          </a:p>
        </p:txBody>
      </p:sp>
      <p:sp>
        <p:nvSpPr>
          <p:cNvPr id="9" name="Shape 5"/>
          <p:cNvSpPr/>
          <p:nvPr/>
        </p:nvSpPr>
        <p:spPr>
          <a:xfrm>
            <a:off x="566928" y="3127248"/>
            <a:ext cx="1097280" cy="32004"/>
          </a:xfrm>
          <a:prstGeom prst="rect">
            <a:avLst/>
          </a:prstGeom>
          <a:solidFill>
            <a:srgbClr val="C9A24B"/>
          </a:solidFill>
          <a:ln/>
        </p:spPr>
      </p:sp>
      <p:sp>
        <p:nvSpPr>
          <p:cNvPr id="10" name="Text 6"/>
          <p:cNvSpPr/>
          <p:nvPr/>
        </p:nvSpPr>
        <p:spPr>
          <a:xfrm>
            <a:off x="548640" y="3291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150" kern="0" dirty="0">
                <a:solidFill>
                  <a:srgbClr val="6E7A74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ĐỒNG HÀNH · SÁNG TẠO · PHÁT TRIỂN BỀN VỮNG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548640" y="44348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www.synetic.vn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info@synetic.vn</a:t>
            </a:r>
            <a:endParaRPr lang="en-US" sz="11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(024) 3xxx xxxx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669280" y="46177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C9A24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Kiến tạo giá trị vượt trội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CÔNG TY CỔ PHẦN TẬP ĐOÀN SYNETIC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Synetic — Mẫu trình bày chuẩn thương hiệu</dc:title>
  <dc:subject>PptxGenJS Presentation</dc:subject>
  <dc:creator>Synetic Group</dc:creator>
  <cp:lastModifiedBy>Synetic Group</cp:lastModifiedBy>
  <cp:revision>1</cp:revision>
  <dcterms:created xsi:type="dcterms:W3CDTF">2026-08-15T06:58:25Z</dcterms:created>
  <dcterms:modified xsi:type="dcterms:W3CDTF">2026-08-15T06:58:25Z</dcterms:modified>
</cp:coreProperties>
</file>