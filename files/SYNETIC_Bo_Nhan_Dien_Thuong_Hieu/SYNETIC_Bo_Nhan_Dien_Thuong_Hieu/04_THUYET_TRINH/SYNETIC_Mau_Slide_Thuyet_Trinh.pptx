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0B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8322F"/>
                    </a:solidFill>
                    <a:latin typeface="Be Vietnam Pr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960</c:v>
                </c:pt>
                <c:pt idx="2">
                  <c:v>1240</c:v>
                </c:pt>
                <c:pt idx="3">
                  <c:v>1586</c:v>
                </c:pt>
                <c:pt idx="4">
                  <c:v>2050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8322F"/>
                  </a:solidFill>
                  <a:latin typeface="Be Vietnam Pr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8322F"/>
                </a:solidFill>
                <a:latin typeface="Be Vietnam Pr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8322F"/>
                </a:solidFill>
                <a:latin typeface="Be Vietnam Pr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7A6E"/>
              </a:solidFill>
              <a:effectLst/>
            </c:spPr>
          </c:dPt>
          <c:dPt>
            <c:idx val="1"/>
            <c:bubble3D val="0"/>
            <c:spPr>
              <a:solidFill>
                <a:srgbClr val="57B94F"/>
              </a:solidFill>
              <a:effectLst/>
            </c:spPr>
          </c:dPt>
          <c:dPt>
            <c:idx val="2"/>
            <c:bubble3D val="0"/>
            <c:spPr>
              <a:solidFill>
                <a:srgbClr val="FFC233"/>
              </a:solidFill>
              <a:effectLst/>
            </c:spPr>
          </c:dPt>
          <c:dPt>
            <c:idx val="3"/>
            <c:bubble3D val="0"/>
            <c:spPr>
              <a:solidFill>
                <a:srgbClr val="0832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Be Vietnam Pr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Be Vietnam Pr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Be Vietnam Pr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Be Vietnam Pr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Nutrition</c:v>
                </c:pt>
                <c:pt idx="1">
                  <c:v>Vet</c:v>
                </c:pt>
                <c:pt idx="2">
                  <c:v>Logistics</c:v>
                </c:pt>
                <c:pt idx="3">
                  <c:v>Farm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21</c:v>
                </c:pt>
                <c:pt idx="2">
                  <c:v>16</c:v>
                </c:pt>
                <c:pt idx="3">
                  <c:v>11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Be Vietnam Pro"/>
              <a:cs typeface="Be Vietnam Pr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bìa. Chỉ thay tên báo cáo và thời 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FC2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9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0" y="2560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00" kern="0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 R O U 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31272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 báo cáo / Tên dự án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0" y="35112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 Nội, tháng __ năm 20__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41605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TẠO GIÁ TRỊ VƯỢT TRỘI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65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3566160" y="2468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 phần trình bày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566160" y="3035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ngắn nội dung của phần này trong một dòng.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Tầm nhìn — Sứ mệnh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câu định hướng toàn hệ thống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3977640" cy="2788920"/>
          </a:xfrm>
          <a:prstGeom prst="rect">
            <a:avLst/>
          </a:prstGeom>
          <a:solidFill>
            <a:srgbClr val="0B7A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TẦM NHÌN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LỐI PHỒN VINH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Trở thành hệ sinh thái kinh doanh tích hợp hàng đầu Việt Nam trong nông nghiệp, dinh dưỡng, dịch vụ chuỗi cung ứng và đầu tư; tiên phong tạo ra những mô hình kinh doanh hiệu quả, khác biệt và bền vững.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931920" cy="2788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8E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 MỆNH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286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Phụng sự khách hàng — Kiến tạo thành công — Lan toả thịnh vượng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322F">
                    <a:alpha val="8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nối con người, nguồn lực, công nghệ, thị trường và vốn để tạo ra sản phẩm, dịch vụ và giải pháp vượt trội; nâng cao hiệu quả cho đối tác, tạo cơ hội cho người lao động và đóng góp cho cộng đồng.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giá trị cốt lõi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tầng của cùng một hệ tư tưởng, không cạnh tranh nhau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27632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773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20848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KHÁT VỌNG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 lớn – Làm lớn – Đi xa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627632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773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3008" y="20848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TIÊN PHONG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theo cuộc chơi – Tạo cuộc chơi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627632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773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0848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4048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ngừng tốt hơn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3255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566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PHỤNG SỰ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công của khách hàng là thước đo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3108960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3255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3566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LỰC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93008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hệ thống – Một sức mạnh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44184" y="3108960"/>
            <a:ext cx="2587752" cy="1298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55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566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 TRỰC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322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đúng để đi xa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thông điệp thương hiệu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tầng, một hệ tư tưởng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27632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27632"/>
            <a:ext cx="64008" cy="420624"/>
          </a:xfrm>
          <a:prstGeom prst="rect">
            <a:avLst/>
          </a:prstGeom>
          <a:solidFill>
            <a:srgbClr val="0B7A6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27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1 · BRAND PROMISE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627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TẠO GIÁ TRỊ VƯỢT TRỘI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0" y="1627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Slogan chính thức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139696"/>
            <a:ext cx="64008" cy="420624"/>
          </a:xfrm>
          <a:prstGeom prst="rect">
            <a:avLst/>
          </a:prstGeom>
          <a:solidFill>
            <a:srgbClr val="57B94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396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2 · TẦM NHÌN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213969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LỐI PHỒN VINH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0" y="21396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Vision Statement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651760"/>
            <a:ext cx="64008" cy="420624"/>
          </a:xfrm>
          <a:prstGeom prst="rect">
            <a:avLst/>
          </a:prstGeom>
          <a:solidFill>
            <a:srgbClr val="57B94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651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3 · KHÁCH HÀNG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6517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PHỤNG SỰ KHÁCH HÀNG – KIẾN TẠO THÀNH CÔNG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26517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 do tồn tại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63824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163824"/>
            <a:ext cx="64008" cy="420624"/>
          </a:xfrm>
          <a:prstGeom prst="rect">
            <a:avLst/>
          </a:prstGeom>
          <a:solidFill>
            <a:srgbClr val="57B94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1638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4 · VĂN HOÁ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16382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KHÔNG NGỪNG VÌ CUỘC SỐNG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31638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 thần hành động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675888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675888"/>
            <a:ext cx="64008" cy="420624"/>
          </a:xfrm>
          <a:prstGeom prst="rect">
            <a:avLst/>
          </a:prstGeom>
          <a:solidFill>
            <a:srgbClr val="0B7A6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6758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5 · KHÁT VỌNG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97480" y="367588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VƯƠN TẦM BẰNG KHÁT VỌNG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49440" y="3675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 lực phát triển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187952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187952"/>
            <a:ext cx="64008" cy="420624"/>
          </a:xfrm>
          <a:prstGeom prst="rect">
            <a:avLst/>
          </a:prstGeom>
          <a:solidFill>
            <a:srgbClr val="3E8E37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1879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E8E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6 · ĐỔI MỚI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97480" y="41879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TIÊN PHONG THAY ĐỔI CUỘC CHƠI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41879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322F">
                    <a:alpha val="6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 thần cạnh tranh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 đề nội dung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dẫn giải thích trọng tâm của trang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4846320" cy="2788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343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Luận điểm thứ nhất trình bày ngắn gọn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Luận điểm thứ hai, mỗi ý tối đa hai dòng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Luận điểm thứ ba, ưu tiên số liệu hơn tính từ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Luận điểm thứ tư khép lại lập luận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691640"/>
            <a:ext cx="3017520" cy="2788920"/>
          </a:xfrm>
          <a:prstGeom prst="rect">
            <a:avLst/>
          </a:prstGeom>
          <a:solidFill>
            <a:srgbClr val="0B7A6E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LIỆU NỔI BẬT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2377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89788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8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 thích cho con số, nêu rõ kỳ và nguồn dữ liệu.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số liệu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dạng bảng chuẩn của hệ thống nhận diện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138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 tiêu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2024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2025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% Tăng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Doanh thu thuần (tỷ đồng)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1.240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1.586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E8E37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+27,9%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Lợi nhuận gộp (tỷ đồng)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212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301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E8E37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+42,0%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Biên lợi nhuận gộp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17,1%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19,0%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E8E37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+1,9 đ%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Lợi nhuận sau thuế (tỷ đồng)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68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8322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104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E8E37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+52,9%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 Báo cáo tài chính hợp nhất đã kiểm toán.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 đồ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 màu: Ngọc Synetic → Lục Tiến → Vàng Nắng → Xanh Thẳm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760720" y="1645920"/>
          <a:ext cx="2926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sức mạnh — Một Synetic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công ty không hoạt động song song, chúng tạo thành một chuỗi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09728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627632"/>
            <a:ext cx="2560320" cy="621792"/>
          </a:xfrm>
          <a:prstGeom prst="rect">
            <a:avLst/>
          </a:prstGeom>
          <a:solidFill>
            <a:srgbClr val="0B7A6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627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2286000"/>
            <a:ext cx="18288" cy="36576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2688336"/>
            <a:ext cx="1536192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852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8322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vốn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52928" y="2286000"/>
            <a:ext cx="18288" cy="36576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3976" y="2688336"/>
            <a:ext cx="1536192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93976" y="2852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93976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NUTRITION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93976" y="336499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8322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Dinh dưỡng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62856" y="2286000"/>
            <a:ext cx="18288" cy="36576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03904" y="2688336"/>
            <a:ext cx="1536192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2852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7B9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03904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336499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8322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 khoẻ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2784" y="2286000"/>
            <a:ext cx="18288" cy="36576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23" name="Shape 21"/>
          <p:cNvSpPr/>
          <p:nvPr/>
        </p:nvSpPr>
        <p:spPr>
          <a:xfrm>
            <a:off x="5513832" y="2688336"/>
            <a:ext cx="1536192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513832" y="2852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13832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3832" y="336499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8322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Chăn nuôi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82712" y="2286000"/>
            <a:ext cx="18288" cy="365760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2688336"/>
            <a:ext cx="1536192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2852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" kern="0" dirty="0">
                <a:solidFill>
                  <a:srgbClr val="08322F">
                    <a:alpha val="5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LOGISTICS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23760" y="336499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8322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Luân chuyển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4023360"/>
            <a:ext cx="8375904" cy="530352"/>
          </a:xfrm>
          <a:prstGeom prst="rect">
            <a:avLst/>
          </a:prstGeom>
          <a:solidFill>
            <a:srgbClr val="DCEFE9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023360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832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tiền · Dữ liệu · Nhu cầu thị trường quay ngược trở lại toàn hệ thống — 1 + 1 &gt; 2</a:t>
            </a:r>
            <a:endParaRPr lang="en-US" sz="11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658368"/>
            <a:ext cx="694944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“Chúng tôi tiên phong không phải để trở nên khác biệt,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 để tạo ra giá trị vượt trội.”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297680" y="2999232"/>
            <a:ext cx="548640" cy="32004"/>
          </a:xfrm>
          <a:prstGeom prst="rect">
            <a:avLst/>
          </a:prstGeom>
          <a:solidFill>
            <a:srgbClr val="FFC233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182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322F">
                    <a:alpha val="6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Trích Lời tuyên ngôn Synetic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322F">
                    <a:alpha val="5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SYNETIC GROUP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FC2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72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828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Trân trọng cảm ơn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2920" y="2697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TY CỔ PHẦN TẬP ĐOÀN SYNETIC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 12, Toà nhà ……………, Quận ……, Hà Nội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 (024) 3xxx xxxx   ·   info@synetic.com.vn   ·   synetic.com.vn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TẠO GIÁ TRỊ VƯỢT TRỘI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Công ty Cổ phần Tập đoàn Synetic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SYNETIC — Mẫu trình bày chuẩn thương hiệu</dc:title>
  <dc:subject>PptxGenJS Presentation</dc:subject>
  <dc:creator>SYNETIC Group</dc:creator>
  <cp:lastModifiedBy>SYNETIC Group</cp:lastModifiedBy>
  <cp:revision>1</cp:revision>
  <dcterms:created xsi:type="dcterms:W3CDTF">2026-08-15T01:26:51Z</dcterms:created>
  <dcterms:modified xsi:type="dcterms:W3CDTF">2026-08-15T01:26:51Z</dcterms:modified>
</cp:coreProperties>
</file>